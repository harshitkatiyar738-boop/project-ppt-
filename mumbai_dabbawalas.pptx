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3D2C2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640080"/>
            <a:ext cx="2926080" cy="2926080"/>
          </a:xfrm>
          <a:prstGeom prst="ellipse">
            <a:avLst/>
          </a:prstGeom>
          <a:solidFill>
            <a:srgbClr val="4735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1051560" cy="10515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icon_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886968"/>
            <a:ext cx="557784" cy="557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TIFFIN DELIVERY SYSTEM · EST. 1890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Mumbai Dabbawalas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5,000 lunchbox couriers built a Six Sigma delivery network — with no technology, no addresses, and no room for error.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2834640" cy="1143000"/>
          </a:xfrm>
          <a:prstGeom prst="rect">
            <a:avLst>
              <a:gd name="adj" fmla="val 6400"/>
            </a:avLst>
          </a:prstGeom>
          <a:solidFill>
            <a:srgbClr val="3A2A22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1846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05840" y="5733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dabbawalas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77640" y="5074920"/>
            <a:ext cx="2834640" cy="1143000"/>
          </a:xfrm>
          <a:prstGeom prst="rect">
            <a:avLst>
              <a:gd name="adj" fmla="val 6400"/>
            </a:avLst>
          </a:prstGeom>
          <a:solidFill>
            <a:srgbClr val="3A2A22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51846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160520" y="5733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tiffins moved daily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32320" y="5074920"/>
            <a:ext cx="2834640" cy="1143000"/>
          </a:xfrm>
          <a:prstGeom prst="rect">
            <a:avLst>
              <a:gd name="adj" fmla="val 6400"/>
            </a:avLst>
          </a:prstGeom>
          <a:solidFill>
            <a:srgbClr val="3A2A2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51846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315200" y="5733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operation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Man's Idea to an Institution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dabbawala system grew from a single delivery into a self-governed cooperative serving all of Mumbai.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60120" y="2240280"/>
            <a:ext cx="0" cy="315468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icon_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0619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880360" y="187452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Mahadeo Havaji Bachche starts carrying home-cooked lunches to a British office worker in Bombay, with about 100 helpers.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1" descr="icon_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311353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880360" y="292608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is informally organized into a working union as demand spreads across the city.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4" name="Image 2" descr="icon_handshak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16509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9959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880360" y="39776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charitable body, the Nutan Mumbai Tiffin Box Suppliers Trust, is formally registered.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0749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3" descr="icon_build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521665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50474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1968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2880360" y="50292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arm, the Mumbai Tiffin Box Suppliers Association, is registered — the structure still used today.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Relay Race, Six Times a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tiffin changes hands roughly six times on the way to the office — and six more on the way home — using colour-coded lids instead of addresses.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65960"/>
          </a:xfrm>
          <a:prstGeom prst="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6712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icon_bike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2194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7889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Pickup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13639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dabbawala collects the tiffin from each home between 8 and 10 am.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1965960"/>
          </a:xfrm>
          <a:prstGeom prst="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16712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icon_route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194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7889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Sorting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313639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are grouped by station and coded by colour, not written address.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01584" y="1965960"/>
            <a:ext cx="3520440" cy="1965960"/>
          </a:xfrm>
          <a:prstGeom prst="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216712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4"/>
          <p:cNvSpPr/>
          <p:nvPr/>
        </p:nvSpPr>
        <p:spPr>
          <a:xfrm>
            <a:off x="8302752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icon_train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21945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27889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Transfer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02752" y="313639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crates ride the suburban rail in reserved luggage compartments.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206240"/>
            <a:ext cx="3520440" cy="1965960"/>
          </a:xfrm>
          <a:prstGeom prst="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40740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19"/>
          <p:cNvSpPr/>
          <p:nvPr/>
        </p:nvSpPr>
        <p:spPr>
          <a:xfrm>
            <a:off x="749808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Image 3" descr="icon_users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4348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" y="5029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Handoff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49808" y="537667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destination station, a second team re-sorts boxes by office building.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25112" y="4206240"/>
            <a:ext cx="3520440" cy="1965960"/>
          </a:xfrm>
          <a:prstGeom prst="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26280" y="440740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4"/>
          <p:cNvSpPr/>
          <p:nvPr/>
        </p:nvSpPr>
        <p:spPr>
          <a:xfrm>
            <a:off x="4526280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1" name="Image 4" descr="icon_building_terracot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443484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26280" y="5029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Delivery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526280" y="537667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Tiffins reach desks before lunchtime, then the empty boxes are collected.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101584" y="4206240"/>
            <a:ext cx="3520440" cy="1965960"/>
          </a:xfrm>
          <a:prstGeom prst="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02752" y="440740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6" name="Text 29"/>
          <p:cNvSpPr/>
          <p:nvPr/>
        </p:nvSpPr>
        <p:spPr>
          <a:xfrm>
            <a:off x="8302752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pic>
        <p:nvPicPr>
          <p:cNvPr id="37" name="Image 5" descr="icon_clock_terracot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6224" y="443484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02752" y="5029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Trip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302752" y="537667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loop — delivery and return — takes about six hours, daily.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3D2C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Are Not an Option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almost entirely without technology, the dabbawalas have been independently studied and rated for their reliability.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37560" cy="1737360"/>
          </a:xfrm>
          <a:prstGeom prst="rect">
            <a:avLst>
              <a:gd name="adj" fmla="val 4211"/>
            </a:avLst>
          </a:prstGeom>
          <a:solidFill>
            <a:srgbClr val="3A2A2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99.9999%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accuracy — better than the Six Sigma benchmark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3337560" cy="1737360"/>
          </a:xfrm>
          <a:prstGeom prst="rect">
            <a:avLst>
              <a:gd name="adj" fmla="val 4211"/>
            </a:avLst>
          </a:prstGeom>
          <a:solidFill>
            <a:srgbClr val="3A2A22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6M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056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erroneous deliveries, by independent studies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2103120"/>
            <a:ext cx="3337560" cy="1737360"/>
          </a:xfrm>
          <a:prstGeom prst="rect">
            <a:avLst>
              <a:gd name="adj" fmla="val 4211"/>
            </a:avLst>
          </a:prstGeom>
          <a:solidFill>
            <a:srgbClr val="3A2A22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9244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tiffins carried per dabbawala on an average day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561320" cy="1874520"/>
          </a:xfrm>
          <a:prstGeom prst="rect">
            <a:avLst>
              <a:gd name="adj" fmla="val 3902"/>
            </a:avLst>
          </a:prstGeom>
          <a:solidFill>
            <a:srgbClr val="B85042"/>
          </a:solidFill>
          <a:ln/>
        </p:spPr>
      </p:sp>
      <p:pic>
        <p:nvPicPr>
          <p:cNvPr id="15" name="Image 0" descr="icon_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34840"/>
            <a:ext cx="685800" cy="685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736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Sigma, without a spreadsheet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737360" y="4800600"/>
            <a:ext cx="8366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B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 Sigma process allows about 3.4 defects per million transactions. Handling roughly 400,000 handoffs a day with an 8th-grade average education and zero digital tracking, the dabbawalas' error rate consistently beats that standard — using only colour codes, timing discipline, and teamwork built over generations.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 Study the World Came to See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began as a local lunch service is now studied as a model of logistics discipline built entirely on trust.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286000"/>
          </a:xfrm>
          <a:prstGeom prst="rect">
            <a:avLst>
              <a:gd name="adj" fmla="val 3600"/>
            </a:avLst>
          </a:prstGeom>
          <a:solidFill>
            <a:srgbClr val="E7E8D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icon_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Case Study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schools, including Harvard, have examined the dabbawala network as a model of low-tech supply-chain reliability.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520440" cy="2286000"/>
          </a:xfrm>
          <a:prstGeom prst="rect">
            <a:avLst>
              <a:gd name="adj" fmla="val 3600"/>
            </a:avLst>
          </a:prstGeom>
          <a:solidFill>
            <a:srgbClr val="E7E8D1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0312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icon_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2402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834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 &amp; Celebrity Visits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53712" y="3246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Dignitaries such as Prince Charles have visited the dabbawalas at Mumbai's railway stations to see the handoff system firsthand.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520440" cy="2286000"/>
          </a:xfrm>
          <a:prstGeom prst="rect">
            <a:avLst>
              <a:gd name="adj" fmla="val 3600"/>
            </a:avLst>
          </a:prstGeom>
          <a:solidFill>
            <a:srgbClr val="E7E8D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0184" y="210312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2402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834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Reliability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30184" y="3246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reviewers, including business publications, have repeatedly confirmed the network's near-flawless delivery record.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073384" cy="1463040"/>
          </a:xfrm>
          <a:prstGeom prst="rect">
            <a:avLst>
              <a:gd name="adj" fmla="val 5000"/>
            </a:avLst>
          </a:prstGeom>
          <a:solidFill>
            <a:srgbClr val="2E211A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“Work is worship.”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14400" y="52120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ethic the dabbawalas point to when explaining a record measured in generations, not quarters — a reminder that discipline and trust can outperform technology.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2026-08-14T10:09:09Z</dcterms:created>
  <dcterms:modified xsi:type="dcterms:W3CDTF">2026-08-14T10:09:09Z</dcterms:modified>
</cp:coreProperties>
</file>